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66CC"/>
    <a:srgbClr val="FF99CC"/>
    <a:srgbClr val="FF66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Среднегодовой прирост ожирения у подростков и детей дошкольного возраста 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50"/>
      <c:rotY val="2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3328649043787771"/>
          <c:y val="0.16136913909408621"/>
          <c:w val="0.74477083740250027"/>
          <c:h val="0.7523609950530203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среднегодовой прирост ожирения у подростков и детей дошкольного возраста 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527E-478F-8E1D-57C6A453ED5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527E-478F-8E1D-57C6A453ED5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527E-478F-8E1D-57C6A453ED5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527E-478F-8E1D-57C6A453ED54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2"/>
                <c:pt idx="0">
                  <c:v>дети дошкольного возраста </c:v>
                </c:pt>
                <c:pt idx="1">
                  <c:v>подростки </c:v>
                </c:pt>
              </c:strCache>
            </c:strRef>
          </c:cat>
          <c:val>
            <c:numRef>
              <c:f>Лист1!$B$2:$B$5</c:f>
              <c:numCache>
                <c:formatCode>0.00%</c:formatCode>
                <c:ptCount val="4"/>
                <c:pt idx="0" formatCode="0%">
                  <c:v>0.09</c:v>
                </c:pt>
                <c:pt idx="1">
                  <c:v>7.5999999999999998E-2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7E-478F-8E1D-57C6A453ED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89835008"/>
        <c:axId val="86069184"/>
        <c:axId val="0"/>
      </c:bar3DChart>
      <c:catAx>
        <c:axId val="898350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6069184"/>
        <c:crosses val="autoZero"/>
        <c:auto val="1"/>
        <c:lblAlgn val="ctr"/>
        <c:lblOffset val="100"/>
        <c:noMultiLvlLbl val="0"/>
      </c:catAx>
      <c:valAx>
        <c:axId val="860691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89835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69405255018769307"/>
          <c:y val="0.81448636058757162"/>
          <c:w val="0.30594744981230698"/>
          <c:h val="0.12851831896067076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6C4135-B806-4CD2-8027-47DA6209425B}" type="doc">
      <dgm:prSet loTypeId="urn:microsoft.com/office/officeart/2005/8/layout/chevron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4DA7125C-6FF9-40DB-A0EC-AC666C4E7750}">
      <dgm:prSet phldrT="[Текст]" phldr="0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Занятие 1. </a:t>
          </a:r>
        </a:p>
      </dgm:t>
    </dgm:pt>
    <dgm:pt modelId="{A11F781B-6148-4779-93F7-71012CF647BE}" type="parTrans" cxnId="{62FAAADC-F7D6-4DF0-BE79-1DB90442E3E4}">
      <dgm:prSet/>
      <dgm:spPr/>
      <dgm:t>
        <a:bodyPr/>
        <a:lstStyle/>
        <a:p>
          <a:endParaRPr lang="ru-RU"/>
        </a:p>
      </dgm:t>
    </dgm:pt>
    <dgm:pt modelId="{EFFB3BC4-D2AB-4590-8BBB-F971EDAFDF0B}" type="sibTrans" cxnId="{62FAAADC-F7D6-4DF0-BE79-1DB90442E3E4}">
      <dgm:prSet/>
      <dgm:spPr/>
      <dgm:t>
        <a:bodyPr/>
        <a:lstStyle/>
        <a:p>
          <a:endParaRPr lang="ru-RU"/>
        </a:p>
      </dgm:t>
    </dgm:pt>
    <dgm:pt modelId="{6814225E-4247-489C-9EA9-B13E5F75F079}">
      <dgm:prSet phldrT="[Текст]" phldr="0" custT="1"/>
      <dgm:spPr/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Что надо знать о детском ожирении и причинах его развития? </a:t>
          </a:r>
        </a:p>
      </dgm:t>
    </dgm:pt>
    <dgm:pt modelId="{1035F38E-AD5C-40B0-870F-77781602B916}" type="parTrans" cxnId="{AAD9962A-28F1-4283-A9F7-EA019ACCB5EE}">
      <dgm:prSet/>
      <dgm:spPr/>
      <dgm:t>
        <a:bodyPr/>
        <a:lstStyle/>
        <a:p>
          <a:endParaRPr lang="ru-RU"/>
        </a:p>
      </dgm:t>
    </dgm:pt>
    <dgm:pt modelId="{BFD0A21E-1188-49DA-A681-06F369496666}" type="sibTrans" cxnId="{AAD9962A-28F1-4283-A9F7-EA019ACCB5EE}">
      <dgm:prSet/>
      <dgm:spPr/>
      <dgm:t>
        <a:bodyPr/>
        <a:lstStyle/>
        <a:p>
          <a:endParaRPr lang="ru-RU"/>
        </a:p>
      </dgm:t>
    </dgm:pt>
    <dgm:pt modelId="{F60E05B5-6CC5-49BA-BE1E-44D7DE9A5824}">
      <dgm:prSet phldrT="[Текст]" phldr="0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Занятие 2. </a:t>
          </a:r>
        </a:p>
      </dgm:t>
    </dgm:pt>
    <dgm:pt modelId="{5EEBD51A-AE68-473B-83F7-B539BEC0F2FA}" type="parTrans" cxnId="{E2683C91-65C0-48C4-BF81-95CB256E5793}">
      <dgm:prSet/>
      <dgm:spPr/>
      <dgm:t>
        <a:bodyPr/>
        <a:lstStyle/>
        <a:p>
          <a:endParaRPr lang="ru-RU"/>
        </a:p>
      </dgm:t>
    </dgm:pt>
    <dgm:pt modelId="{EA0921AF-0313-4D0C-8BF1-D9EE066838D0}" type="sibTrans" cxnId="{E2683C91-65C0-48C4-BF81-95CB256E5793}">
      <dgm:prSet/>
      <dgm:spPr/>
      <dgm:t>
        <a:bodyPr/>
        <a:lstStyle/>
        <a:p>
          <a:endParaRPr lang="ru-RU"/>
        </a:p>
      </dgm:t>
    </dgm:pt>
    <dgm:pt modelId="{E8218206-95CA-4709-9F10-7CB1F436F49B}">
      <dgm:prSet phldrT="[Текст]" phldr="0" custT="1"/>
      <dgm:spPr/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Осложнения, которые могут нести за собой чрезвычайные последствия. </a:t>
          </a:r>
        </a:p>
      </dgm:t>
    </dgm:pt>
    <dgm:pt modelId="{23A346AD-9C92-431A-AD2B-1D5C0495A6C2}" type="parTrans" cxnId="{7C7B3FD7-001D-401C-8F63-CFD5F6D0C0A9}">
      <dgm:prSet/>
      <dgm:spPr/>
      <dgm:t>
        <a:bodyPr/>
        <a:lstStyle/>
        <a:p>
          <a:endParaRPr lang="ru-RU"/>
        </a:p>
      </dgm:t>
    </dgm:pt>
    <dgm:pt modelId="{C72B8C84-F23B-4941-8E84-0581949194A9}" type="sibTrans" cxnId="{7C7B3FD7-001D-401C-8F63-CFD5F6D0C0A9}">
      <dgm:prSet/>
      <dgm:spPr/>
      <dgm:t>
        <a:bodyPr/>
        <a:lstStyle/>
        <a:p>
          <a:endParaRPr lang="ru-RU"/>
        </a:p>
      </dgm:t>
    </dgm:pt>
    <dgm:pt modelId="{B70410B9-262B-4872-A7FE-CE2C391354B3}">
      <dgm:prSet phldrT="[Текст]" phldr="0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Занятие 3.</a:t>
          </a:r>
        </a:p>
      </dgm:t>
    </dgm:pt>
    <dgm:pt modelId="{E6EDB1A5-E389-402C-8B84-39AC6A2FAA47}" type="parTrans" cxnId="{4B9BCAE7-6D14-47E6-BDEE-63E3D2724BC0}">
      <dgm:prSet/>
      <dgm:spPr/>
      <dgm:t>
        <a:bodyPr/>
        <a:lstStyle/>
        <a:p>
          <a:endParaRPr lang="ru-RU"/>
        </a:p>
      </dgm:t>
    </dgm:pt>
    <dgm:pt modelId="{2ECE5373-1E90-4578-B9CB-7D97F0D74CBA}" type="sibTrans" cxnId="{4B9BCAE7-6D14-47E6-BDEE-63E3D2724BC0}">
      <dgm:prSet/>
      <dgm:spPr/>
      <dgm:t>
        <a:bodyPr/>
        <a:lstStyle/>
        <a:p>
          <a:endParaRPr lang="ru-RU"/>
        </a:p>
      </dgm:t>
    </dgm:pt>
    <dgm:pt modelId="{95571E0D-4974-4566-BA1D-004ECC080B05}">
      <dgm:prSet phldrT="[Текст]" phldr="0" custT="1"/>
      <dgm:spPr/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Здоровое питание. Что надо знать о питании при избыточной массе тела ребенка и ожирении? </a:t>
          </a:r>
        </a:p>
      </dgm:t>
    </dgm:pt>
    <dgm:pt modelId="{078BFF47-1234-4C8F-AF9E-06B4A3112C48}" type="parTrans" cxnId="{0B086A62-38F1-4A97-BA09-40CDD27DF26F}">
      <dgm:prSet/>
      <dgm:spPr/>
      <dgm:t>
        <a:bodyPr/>
        <a:lstStyle/>
        <a:p>
          <a:endParaRPr lang="ru-RU"/>
        </a:p>
      </dgm:t>
    </dgm:pt>
    <dgm:pt modelId="{DA5A1C86-CF1B-469F-AA45-9E1B855A7F35}" type="sibTrans" cxnId="{0B086A62-38F1-4A97-BA09-40CDD27DF26F}">
      <dgm:prSet/>
      <dgm:spPr/>
      <dgm:t>
        <a:bodyPr/>
        <a:lstStyle/>
        <a:p>
          <a:endParaRPr lang="ru-RU"/>
        </a:p>
      </dgm:t>
    </dgm:pt>
    <dgm:pt modelId="{A49BDC7C-3E55-48FC-9D14-B7864C6C9A8A}" type="pres">
      <dgm:prSet presAssocID="{FC6C4135-B806-4CD2-8027-47DA6209425B}" presName="linearFlow" presStyleCnt="0">
        <dgm:presLayoutVars>
          <dgm:dir/>
          <dgm:animLvl val="lvl"/>
          <dgm:resizeHandles val="exact"/>
        </dgm:presLayoutVars>
      </dgm:prSet>
      <dgm:spPr/>
    </dgm:pt>
    <dgm:pt modelId="{B2A6C5C1-3C8B-453A-B8C6-924D1B86EAB7}" type="pres">
      <dgm:prSet presAssocID="{4DA7125C-6FF9-40DB-A0EC-AC666C4E7750}" presName="composite" presStyleCnt="0"/>
      <dgm:spPr/>
    </dgm:pt>
    <dgm:pt modelId="{4D0ED51F-7443-4397-A378-4AB0275DA122}" type="pres">
      <dgm:prSet presAssocID="{4DA7125C-6FF9-40DB-A0EC-AC666C4E7750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BD9BAC35-3947-4941-9058-9B710439C7AB}" type="pres">
      <dgm:prSet presAssocID="{4DA7125C-6FF9-40DB-A0EC-AC666C4E7750}" presName="descendantText" presStyleLbl="alignAcc1" presStyleIdx="0" presStyleCnt="3">
        <dgm:presLayoutVars>
          <dgm:bulletEnabled val="1"/>
        </dgm:presLayoutVars>
      </dgm:prSet>
      <dgm:spPr/>
    </dgm:pt>
    <dgm:pt modelId="{5E1FB027-4328-4C98-AE2B-D73D413BA66F}" type="pres">
      <dgm:prSet presAssocID="{EFFB3BC4-D2AB-4590-8BBB-F971EDAFDF0B}" presName="sp" presStyleCnt="0"/>
      <dgm:spPr/>
    </dgm:pt>
    <dgm:pt modelId="{C9266D25-3D88-4EBB-97DE-F980EEF02796}" type="pres">
      <dgm:prSet presAssocID="{F60E05B5-6CC5-49BA-BE1E-44D7DE9A5824}" presName="composite" presStyleCnt="0"/>
      <dgm:spPr/>
    </dgm:pt>
    <dgm:pt modelId="{3CB3E6DB-A8CF-4B13-9850-272C274AF5B8}" type="pres">
      <dgm:prSet presAssocID="{F60E05B5-6CC5-49BA-BE1E-44D7DE9A582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28D08D0-0596-4E41-B20E-7B5308D7F9D7}" type="pres">
      <dgm:prSet presAssocID="{F60E05B5-6CC5-49BA-BE1E-44D7DE9A5824}" presName="descendantText" presStyleLbl="alignAcc1" presStyleIdx="1" presStyleCnt="3">
        <dgm:presLayoutVars>
          <dgm:bulletEnabled val="1"/>
        </dgm:presLayoutVars>
      </dgm:prSet>
      <dgm:spPr/>
    </dgm:pt>
    <dgm:pt modelId="{51CC6578-261A-4AEC-8305-F3B728399A46}" type="pres">
      <dgm:prSet presAssocID="{EA0921AF-0313-4D0C-8BF1-D9EE066838D0}" presName="sp" presStyleCnt="0"/>
      <dgm:spPr/>
    </dgm:pt>
    <dgm:pt modelId="{9EFECA43-DC19-4271-A88A-A05EB20C5E5F}" type="pres">
      <dgm:prSet presAssocID="{B70410B9-262B-4872-A7FE-CE2C391354B3}" presName="composite" presStyleCnt="0"/>
      <dgm:spPr/>
    </dgm:pt>
    <dgm:pt modelId="{F098EF97-154D-4292-844C-81D2E38F6938}" type="pres">
      <dgm:prSet presAssocID="{B70410B9-262B-4872-A7FE-CE2C391354B3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629068C-DB92-452D-9F77-BDF40E1E0A02}" type="pres">
      <dgm:prSet presAssocID="{B70410B9-262B-4872-A7FE-CE2C391354B3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320C81D-1717-4FAD-87D0-6A9EBF2113AD}" type="presOf" srcId="{F60E05B5-6CC5-49BA-BE1E-44D7DE9A5824}" destId="{3CB3E6DB-A8CF-4B13-9850-272C274AF5B8}" srcOrd="0" destOrd="0" presId="urn:microsoft.com/office/officeart/2005/8/layout/chevron2"/>
    <dgm:cxn modelId="{AAD9962A-28F1-4283-A9F7-EA019ACCB5EE}" srcId="{4DA7125C-6FF9-40DB-A0EC-AC666C4E7750}" destId="{6814225E-4247-489C-9EA9-B13E5F75F079}" srcOrd="0" destOrd="0" parTransId="{1035F38E-AD5C-40B0-870F-77781602B916}" sibTransId="{BFD0A21E-1188-49DA-A681-06F369496666}"/>
    <dgm:cxn modelId="{27FD7535-13EB-4CC1-81A4-F8D81970F884}" type="presOf" srcId="{B70410B9-262B-4872-A7FE-CE2C391354B3}" destId="{F098EF97-154D-4292-844C-81D2E38F6938}" srcOrd="0" destOrd="0" presId="urn:microsoft.com/office/officeart/2005/8/layout/chevron2"/>
    <dgm:cxn modelId="{ADA83B42-F79E-4B10-BCD9-8241959AEB06}" type="presOf" srcId="{E8218206-95CA-4709-9F10-7CB1F436F49B}" destId="{528D08D0-0596-4E41-B20E-7B5308D7F9D7}" srcOrd="0" destOrd="0" presId="urn:microsoft.com/office/officeart/2005/8/layout/chevron2"/>
    <dgm:cxn modelId="{FFD64962-A840-4F24-A70B-721996692D60}" type="presOf" srcId="{4DA7125C-6FF9-40DB-A0EC-AC666C4E7750}" destId="{4D0ED51F-7443-4397-A378-4AB0275DA122}" srcOrd="0" destOrd="0" presId="urn:microsoft.com/office/officeart/2005/8/layout/chevron2"/>
    <dgm:cxn modelId="{0B086A62-38F1-4A97-BA09-40CDD27DF26F}" srcId="{B70410B9-262B-4872-A7FE-CE2C391354B3}" destId="{95571E0D-4974-4566-BA1D-004ECC080B05}" srcOrd="0" destOrd="0" parTransId="{078BFF47-1234-4C8F-AF9E-06B4A3112C48}" sibTransId="{DA5A1C86-CF1B-469F-AA45-9E1B855A7F35}"/>
    <dgm:cxn modelId="{7F4E868E-DAA5-4C83-8A02-5F93BE321311}" type="presOf" srcId="{95571E0D-4974-4566-BA1D-004ECC080B05}" destId="{B629068C-DB92-452D-9F77-BDF40E1E0A02}" srcOrd="0" destOrd="0" presId="urn:microsoft.com/office/officeart/2005/8/layout/chevron2"/>
    <dgm:cxn modelId="{E2683C91-65C0-48C4-BF81-95CB256E5793}" srcId="{FC6C4135-B806-4CD2-8027-47DA6209425B}" destId="{F60E05B5-6CC5-49BA-BE1E-44D7DE9A5824}" srcOrd="1" destOrd="0" parTransId="{5EEBD51A-AE68-473B-83F7-B539BEC0F2FA}" sibTransId="{EA0921AF-0313-4D0C-8BF1-D9EE066838D0}"/>
    <dgm:cxn modelId="{23248099-114E-43E1-9B28-F78DAB8FA7BC}" type="presOf" srcId="{FC6C4135-B806-4CD2-8027-47DA6209425B}" destId="{A49BDC7C-3E55-48FC-9D14-B7864C6C9A8A}" srcOrd="0" destOrd="0" presId="urn:microsoft.com/office/officeart/2005/8/layout/chevron2"/>
    <dgm:cxn modelId="{F1C497D6-205E-4E58-AE6E-4E4A36D1E7A5}" type="presOf" srcId="{6814225E-4247-489C-9EA9-B13E5F75F079}" destId="{BD9BAC35-3947-4941-9058-9B710439C7AB}" srcOrd="0" destOrd="0" presId="urn:microsoft.com/office/officeart/2005/8/layout/chevron2"/>
    <dgm:cxn modelId="{7C7B3FD7-001D-401C-8F63-CFD5F6D0C0A9}" srcId="{F60E05B5-6CC5-49BA-BE1E-44D7DE9A5824}" destId="{E8218206-95CA-4709-9F10-7CB1F436F49B}" srcOrd="0" destOrd="0" parTransId="{23A346AD-9C92-431A-AD2B-1D5C0495A6C2}" sibTransId="{C72B8C84-F23B-4941-8E84-0581949194A9}"/>
    <dgm:cxn modelId="{62FAAADC-F7D6-4DF0-BE79-1DB90442E3E4}" srcId="{FC6C4135-B806-4CD2-8027-47DA6209425B}" destId="{4DA7125C-6FF9-40DB-A0EC-AC666C4E7750}" srcOrd="0" destOrd="0" parTransId="{A11F781B-6148-4779-93F7-71012CF647BE}" sibTransId="{EFFB3BC4-D2AB-4590-8BBB-F971EDAFDF0B}"/>
    <dgm:cxn modelId="{4B9BCAE7-6D14-47E6-BDEE-63E3D2724BC0}" srcId="{FC6C4135-B806-4CD2-8027-47DA6209425B}" destId="{B70410B9-262B-4872-A7FE-CE2C391354B3}" srcOrd="2" destOrd="0" parTransId="{E6EDB1A5-E389-402C-8B84-39AC6A2FAA47}" sibTransId="{2ECE5373-1E90-4578-B9CB-7D97F0D74CBA}"/>
    <dgm:cxn modelId="{199C782E-34BD-4A07-898E-64B2721830D3}" type="presParOf" srcId="{A49BDC7C-3E55-48FC-9D14-B7864C6C9A8A}" destId="{B2A6C5C1-3C8B-453A-B8C6-924D1B86EAB7}" srcOrd="0" destOrd="0" presId="urn:microsoft.com/office/officeart/2005/8/layout/chevron2"/>
    <dgm:cxn modelId="{0EF0F7DA-A83E-4AE6-8C6D-CA9E83323AF7}" type="presParOf" srcId="{B2A6C5C1-3C8B-453A-B8C6-924D1B86EAB7}" destId="{4D0ED51F-7443-4397-A378-4AB0275DA122}" srcOrd="0" destOrd="0" presId="urn:microsoft.com/office/officeart/2005/8/layout/chevron2"/>
    <dgm:cxn modelId="{B12EEEAA-F5C1-47D2-8904-F4F9C331DF5A}" type="presParOf" srcId="{B2A6C5C1-3C8B-453A-B8C6-924D1B86EAB7}" destId="{BD9BAC35-3947-4941-9058-9B710439C7AB}" srcOrd="1" destOrd="0" presId="urn:microsoft.com/office/officeart/2005/8/layout/chevron2"/>
    <dgm:cxn modelId="{5DF9312C-C1F0-448A-965D-2CDDBF59B19A}" type="presParOf" srcId="{A49BDC7C-3E55-48FC-9D14-B7864C6C9A8A}" destId="{5E1FB027-4328-4C98-AE2B-D73D413BA66F}" srcOrd="1" destOrd="0" presId="urn:microsoft.com/office/officeart/2005/8/layout/chevron2"/>
    <dgm:cxn modelId="{D02A86DE-57B1-499D-895D-2F693AC7852B}" type="presParOf" srcId="{A49BDC7C-3E55-48FC-9D14-B7864C6C9A8A}" destId="{C9266D25-3D88-4EBB-97DE-F980EEF02796}" srcOrd="2" destOrd="0" presId="urn:microsoft.com/office/officeart/2005/8/layout/chevron2"/>
    <dgm:cxn modelId="{320EBD62-1FB1-42CA-AC80-B51DA1EEABA3}" type="presParOf" srcId="{C9266D25-3D88-4EBB-97DE-F980EEF02796}" destId="{3CB3E6DB-A8CF-4B13-9850-272C274AF5B8}" srcOrd="0" destOrd="0" presId="urn:microsoft.com/office/officeart/2005/8/layout/chevron2"/>
    <dgm:cxn modelId="{B930B5E8-69ED-4638-BDF9-C066B76846FB}" type="presParOf" srcId="{C9266D25-3D88-4EBB-97DE-F980EEF02796}" destId="{528D08D0-0596-4E41-B20E-7B5308D7F9D7}" srcOrd="1" destOrd="0" presId="urn:microsoft.com/office/officeart/2005/8/layout/chevron2"/>
    <dgm:cxn modelId="{60276884-F82E-40CA-907B-385BE18C129C}" type="presParOf" srcId="{A49BDC7C-3E55-48FC-9D14-B7864C6C9A8A}" destId="{51CC6578-261A-4AEC-8305-F3B728399A46}" srcOrd="3" destOrd="0" presId="urn:microsoft.com/office/officeart/2005/8/layout/chevron2"/>
    <dgm:cxn modelId="{D2438BCB-2D9B-43C5-A367-29B1FF9FC68C}" type="presParOf" srcId="{A49BDC7C-3E55-48FC-9D14-B7864C6C9A8A}" destId="{9EFECA43-DC19-4271-A88A-A05EB20C5E5F}" srcOrd="4" destOrd="0" presId="urn:microsoft.com/office/officeart/2005/8/layout/chevron2"/>
    <dgm:cxn modelId="{B3A8808B-9653-4DA5-8A1E-5BDF98FCEC09}" type="presParOf" srcId="{9EFECA43-DC19-4271-A88A-A05EB20C5E5F}" destId="{F098EF97-154D-4292-844C-81D2E38F6938}" srcOrd="0" destOrd="0" presId="urn:microsoft.com/office/officeart/2005/8/layout/chevron2"/>
    <dgm:cxn modelId="{BCEB3727-28EB-4E8F-BDE5-94A9001B3552}" type="presParOf" srcId="{9EFECA43-DC19-4271-A88A-A05EB20C5E5F}" destId="{B629068C-DB92-452D-9F77-BDF40E1E0A0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ED51F-7443-4397-A378-4AB0275DA122}">
      <dsp:nvSpPr>
        <dsp:cNvPr id="0" name=""/>
        <dsp:cNvSpPr/>
      </dsp:nvSpPr>
      <dsp:spPr>
        <a:xfrm rot="5400000">
          <a:off x="-292040" y="293621"/>
          <a:ext cx="1946938" cy="136285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Занятие 1. </a:t>
          </a:r>
        </a:p>
      </dsp:txBody>
      <dsp:txXfrm rot="-5400000">
        <a:off x="1" y="683010"/>
        <a:ext cx="1362857" cy="584081"/>
      </dsp:txXfrm>
    </dsp:sp>
    <dsp:sp modelId="{BD9BAC35-3947-4941-9058-9B710439C7AB}">
      <dsp:nvSpPr>
        <dsp:cNvPr id="0" name=""/>
        <dsp:cNvSpPr/>
      </dsp:nvSpPr>
      <dsp:spPr>
        <a:xfrm rot="5400000">
          <a:off x="5659764" y="-4295326"/>
          <a:ext cx="1265510" cy="98593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Что надо знать о детском ожирении и причинах его развития? </a:t>
          </a:r>
        </a:p>
      </dsp:txBody>
      <dsp:txXfrm rot="-5400000">
        <a:off x="1362858" y="63357"/>
        <a:ext cx="9797547" cy="1141956"/>
      </dsp:txXfrm>
    </dsp:sp>
    <dsp:sp modelId="{3CB3E6DB-A8CF-4B13-9850-272C274AF5B8}">
      <dsp:nvSpPr>
        <dsp:cNvPr id="0" name=""/>
        <dsp:cNvSpPr/>
      </dsp:nvSpPr>
      <dsp:spPr>
        <a:xfrm rot="5400000">
          <a:off x="-292040" y="2049619"/>
          <a:ext cx="1946938" cy="1362857"/>
        </a:xfrm>
        <a:prstGeom prst="chevron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Занятие 2. </a:t>
          </a:r>
        </a:p>
      </dsp:txBody>
      <dsp:txXfrm rot="-5400000">
        <a:off x="1" y="2439008"/>
        <a:ext cx="1362857" cy="584081"/>
      </dsp:txXfrm>
    </dsp:sp>
    <dsp:sp modelId="{528D08D0-0596-4E41-B20E-7B5308D7F9D7}">
      <dsp:nvSpPr>
        <dsp:cNvPr id="0" name=""/>
        <dsp:cNvSpPr/>
      </dsp:nvSpPr>
      <dsp:spPr>
        <a:xfrm rot="5400000">
          <a:off x="5659764" y="-2539328"/>
          <a:ext cx="1265510" cy="98593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Осложнения, которые могут нести за собой чрезвычайные последствия. </a:t>
          </a:r>
        </a:p>
      </dsp:txBody>
      <dsp:txXfrm rot="-5400000">
        <a:off x="1362858" y="1819355"/>
        <a:ext cx="9797547" cy="1141956"/>
      </dsp:txXfrm>
    </dsp:sp>
    <dsp:sp modelId="{F098EF97-154D-4292-844C-81D2E38F6938}">
      <dsp:nvSpPr>
        <dsp:cNvPr id="0" name=""/>
        <dsp:cNvSpPr/>
      </dsp:nvSpPr>
      <dsp:spPr>
        <a:xfrm rot="5400000">
          <a:off x="-292040" y="3805618"/>
          <a:ext cx="1946938" cy="1362857"/>
        </a:xfrm>
        <a:prstGeom prst="chevron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Занятие 3.</a:t>
          </a:r>
        </a:p>
      </dsp:txBody>
      <dsp:txXfrm rot="-5400000">
        <a:off x="1" y="4195007"/>
        <a:ext cx="1362857" cy="584081"/>
      </dsp:txXfrm>
    </dsp:sp>
    <dsp:sp modelId="{B629068C-DB92-452D-9F77-BDF40E1E0A02}">
      <dsp:nvSpPr>
        <dsp:cNvPr id="0" name=""/>
        <dsp:cNvSpPr/>
      </dsp:nvSpPr>
      <dsp:spPr>
        <a:xfrm rot="5400000">
          <a:off x="5659764" y="-783329"/>
          <a:ext cx="1265510" cy="985932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Здоровое питание. Что надо знать о питании при избыточной массе тела ребенка и ожирении? </a:t>
          </a:r>
        </a:p>
      </dsp:txBody>
      <dsp:txXfrm rot="-5400000">
        <a:off x="1362858" y="3575354"/>
        <a:ext cx="9797547" cy="1141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10:27:13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24575,'0'5'0,"0"9"0,0 3-8191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10:31:50.021"/>
    </inkml:context>
    <inkml:brush xml:id="br0">
      <inkml:brushProperty name="width" value="0.35" units="cm"/>
      <inkml:brushProperty name="height" value="0.35" units="cm"/>
      <inkml:brushProperty name="color" value="#D1C4DA"/>
    </inkml:brush>
  </inkml:definitions>
  <inkml:trace contextRef="#ctx0" brushRef="#br0">57 19 24575,'-2'0'0,"-3"0"0,-3-3 0,-4-2 0,-3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10:31:54.720"/>
    </inkml:context>
    <inkml:brush xml:id="br0">
      <inkml:brushProperty name="width" value="0.35" units="cm"/>
      <inkml:brushProperty name="height" value="0.35" units="cm"/>
      <inkml:brushProperty name="color" value="#D1C4DA"/>
    </inkml:brush>
  </inkml:definitions>
  <inkml:trace contextRef="#ctx0" brushRef="#br0">415 0 24575,'370'14'0,"-166"-2"0,-181-8 0,1 2 0,0 0 0,-1 1 0,-1 1 0,1 1 0,-1 2 0,22 13 0,-21-11 0,0 0 0,-1 2 0,23 20 0,-45-35 0,1 0 0,-1 0 0,0 0 0,0 0 0,0 0 0,1 0 0,-1 0 0,0 0 0,0 0 0,0 1 0,0-1 0,1 0 0,-1 0 0,0 0 0,0 0 0,0 0 0,0 0 0,1 0 0,-1 0 0,0 1 0,0-1 0,0 0 0,0 0 0,0 0 0,0 0 0,1 0 0,-1 1 0,0-1 0,0 0 0,0 0 0,0 0 0,0 0 0,0 1 0,0-1 0,0 0 0,0 0 0,0 0 0,0 0 0,0 1 0,0-1 0,0 0 0,0 0 0,0 0 0,0 1 0,0-1 0,0 0 0,0 0 0,0 0 0,0 0 0,0 1 0,0-1 0,-1 0 0,1 0 0,0 0 0,0 0 0,0 1 0,0-1 0,0 0 0,0 0 0,-1 0 0,1 0 0,0 0 0,0 0 0,0 0 0,0 0 0,-1 1 0,-18-4 0,-23-10 0,32 9 0,-1 0 0,1 1 0,-1 0 0,0 1 0,0 1 0,-13-2 0,10 1 0,0-1 0,0 0 0,-27-12 0,-5 0 0,-4 3 0,-1 3 0,0 1 0,-1 3 0,-71 3 0,74 5 0,0 2 0,0 3 0,-55 16 0,-30 4 0,-136 31 0,267-58 0,1-1 0,-1 1 0,0 0 0,0 0 0,1 0 0,-1 1 0,1-1 0,-1 0 0,1 1 0,-1 0 0,1 0 0,0-1 0,0 1 0,0 1 0,0-1 0,0 0 0,0 0 0,1 1 0,-3 3 0,4-4 0,-1 1 0,1-1 0,0 0 0,0 1 0,0-1 0,1 0 0,-1 1 0,1-1 0,-1 0 0,1 0 0,-1 1 0,1-1 0,0 0 0,0 0 0,0 0 0,1 0 0,-1 0 0,0 0 0,1 0 0,-1 0 0,1-1 0,0 1 0,-1-1 0,4 3 0,10 8 0,0-1 0,1 0 0,1-1 0,-1 0 0,2-2 0,-1 0 0,1-1 0,25 7 0,12 0 0,85 11 0,-49-17 0,160-7 0,-110-3 0,142-15 0,-187 9 0,-52 6 0,67 3 0,-111-1 0,1 0 0,-1 0 0,1 0 0,0 0 0,-1 0 0,1 0 0,-1 0 0,1 0 0,-1 0 0,1 0 0,0 0 0,-1 0 0,1 0 0,-1 0 0,1 1 0,-1-1 0,1 0 0,-1 0 0,1 0 0,-1 1 0,1-1 0,-1 0 0,1 1 0,-1-1 0,1 1 0,-1-1 0,1 0 0,-1 1 0,0-1 0,1 1 0,-1-1 0,0 1 0,1 0 0,-16 13 0,-31 7 0,46-21 0,-34 13 0,-2-1 0,0-1 0,0-2 0,-54 5 0,47-7 0,-46 14 0,-2 0 0,-242 10 0,204-24 0,-129-6 0,257-1 0,0 0 0,0 0 0,0 0 0,0 0 0,0 0 0,0 0 0,0 1 0,0-1 0,0 0 0,0 1 0,0-1 0,0 0 0,0 1 0,0-1 0,0 1 0,1-1 0,-1 1 0,0 0 0,0-1 0,0 1 0,1 0 0,-1-1 0,0 1 0,1 0 0,-1 0 0,0 1 0,1 0 0,0-1 0,0 1 0,0-1 0,0 1 0,0-1 0,0 1 0,1-1 0,-1 1 0,0-1 0,1 1 0,0-1 0,-1 0 0,1 1 0,0-1 0,-1 0 0,2 2 0,7 9 0,1-1 0,0 0 0,11 10 0,-11-11 0,22 28 0,-29-32 0,1-1 0,-1 0 0,1 0 0,0 0 0,1 0 0,-1-1 0,1 0 0,0 0 0,0 0 0,0 0 0,1-1 0,-1 0 0,1 0 0,-1-1 0,1 1 0,0-1 0,0 0 0,7 1 0,104 8-33,223-6 0,-184-7-1266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10:32:04.709"/>
    </inkml:context>
    <inkml:brush xml:id="br0">
      <inkml:brushProperty name="width" value="0.35" units="cm"/>
      <inkml:brushProperty name="height" value="0.35" units="cm"/>
      <inkml:brushProperty name="color" value="#D1C4DA"/>
    </inkml:brush>
  </inkml:definitions>
  <inkml:trace contextRef="#ctx0" brushRef="#br0">0 0 24575,'1'3'0,"0"-1"0,-1 1 0,1 0 0,0-1 0,0 1 0,1-1 0,-1 1 0,0-1 0,1 0 0,-1 1 0,1-1 0,0 0 0,0 0 0,0 0 0,0-1 0,0 1 0,0 0 0,1-1 0,-1 1 0,0-1 0,1 0 0,-1 0 0,1 0 0,0 0 0,-1 0 0,4 0 0,5 3 0,0-1 0,0-1 0,1 0 0,-1-1 0,13 1 0,136 9 0,-121-11 0,0 1 0,50 8 0,13 2 0,0-3 0,143-9 0,-90-2 0,-61 1 0,102 5 0,-171-1 0,138 8 0,-132-10 0,8 1 0,1-2 0,-1-2 0,61-12 0,-65 10 0,0 0 0,1 3 0,-1 0 0,47 6 0,5-2 0,2447-2 0,-2386-12 0,-98 5 0,57 1 0,642 7 0,-584 12 0,-28-2 0,68 2 0,160-2 0,-349-9 0,282 11 0,-100-1 0,5 1 0,43-1 0,1622-12 0,-1846-1 0,-1-1 0,34-8 0,-34 6 0,0 0 0,36-1 0,115-7 0,-127 13 0,0-3 0,-1-1 0,51-12 0,-71 12 0,1 0 0,31 0 0,-32 3 0,1-1 0,35-7 0,-9-1 0,0 3 0,64 1 0,-31 2 0,386-1 0,-261 6 0,62 10 0,89-2 0,-233-4 0,79 8 0,-5 1 0,-124-11 0,408 0 0,-255-6 0,-197 2 0,340-10 0,-166-15 0,-108 11 0,23 4 0,124 5 0,-183 6 0,122 11 0,-146-10-343,47 6 0,-72-6-336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10:32:09.575"/>
    </inkml:context>
    <inkml:brush xml:id="br0">
      <inkml:brushProperty name="width" value="0.35" units="cm"/>
      <inkml:brushProperty name="height" value="0.35" units="cm"/>
      <inkml:brushProperty name="color" value="#D1C4DA"/>
    </inkml:brush>
  </inkml:definitions>
  <inkml:trace contextRef="#ctx0" brushRef="#br0">1 0 24575,'0'2'0,"1"-1"0,-1 0 0,1 1 0,0-1 0,0 0 0,-1 0 0,1 0 0,0 0 0,0 1 0,0-1 0,0 0 0,0-1 0,0 1 0,0 0 0,1 0 0,-1 0 0,0-1 0,0 1 0,1-1 0,-1 1 0,0-1 0,1 1 0,1 0 0,41 10 0,-33-8 0,66 11 0,0-3 0,92 1 0,-144-10 0,278 0 0,-157-4 0,29-10-1365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10:32:17.538"/>
    </inkml:context>
    <inkml:brush xml:id="br0">
      <inkml:brushProperty name="width" value="0.35" units="cm"/>
      <inkml:brushProperty name="height" value="0.35" units="cm"/>
      <inkml:brushProperty name="color" value="#D1C4DA"/>
    </inkml:brush>
  </inkml:definitions>
  <inkml:trace contextRef="#ctx0" brushRef="#br0">1 14 24575,'540'-14'0,"-352"28"0,-77-16 0,121 4 0,-230-2 0,-1 0 0,0 0 0,1 0 0,-1 0 0,1 0 0,-1 0 0,0 0 0,1 1 0,-1-1 0,0 1 0,1-1 0,-1 1 0,0-1 0,0 1 0,1 0 0,-1-1 0,0 1 0,0 0 0,0 0 0,0 0 0,0 0 0,0 0 0,0 0 0,1 2 0,-2-2 0,0 0 0,0 1 0,0-1 0,0 1 0,0-1 0,0 0 0,0 1 0,-1-1 0,1 1 0,-1-1 0,1 0 0,-1 1 0,1-1 0,-1 0 0,0 0 0,1 1 0,-1-1 0,0 0 0,-1 1 0,-3 4 0,1-1 0,-2 1 0,1-1 0,0-1 0,-1 1 0,0-1 0,0 0 0,-8 4 0,-104 34 0,-143 31 0,166-49 0,-86 11 0,126-26 0,-91 27 0,104-28 0,33-7 0,0 0 0,0 1 0,0 0 0,-17 7 0,26-9 0,0 0 0,-1 1 0,1-1 0,0 0 0,-1 0 0,1 0 0,0 0 0,0 0 0,-1 1 0,1-1 0,0 0 0,0 0 0,-1 1 0,1-1 0,0 0 0,0 0 0,0 1 0,-1-1 0,1 0 0,0 1 0,0-1 0,0 0 0,0 0 0,0 1 0,0-1 0,0 0 0,0 1 0,0-1 0,0 0 0,0 1 0,0-1 0,0 0 0,0 1 0,0-1 0,0 0 0,0 1 0,0-1 0,11 12 0,18 4 0,8-4 0,44 11 0,11 2 0,-66-19 0,0-1 0,1-1 0,-1-1 0,1-2 0,0-1 0,34-4 0,17 2 0,175-11 0,59-13 0,-324 29 0,0 0 0,1 1 0,-1 0 0,-10 6 0,-20 6 0,-25 7 0,-4 2 0,-120 24 0,83-26 0,60-12 0,-90 10 0,27-10 0,-50 2 0,141-14 0,-41 2 0,59-1 0,0 0 0,-1 0 0,1 0 0,0 1 0,0-1 0,0 1 0,0 0 0,0 0 0,0 0 0,0 0 0,0 0 0,0 0 0,1 0 0,-1 0 0,0 1 0,1-1 0,-1 1 0,1-1 0,-1 1 0,1 0 0,0-1 0,-2 4 0,3-4 0,0 1 0,0-1 0,0 0 0,0 1 0,0-1 0,0 0 0,0 1 0,0-1 0,0 0 0,1 1 0,-1-1 0,1 0 0,-1 1 0,1-1 0,-1 0 0,1 0 0,0 0 0,0 0 0,0 1 0,-1-1 0,1 0 0,0 0 0,0-1 0,0 1 0,0 0 0,1 0 0,-1 0 0,0-1 0,0 1 0,0-1 0,1 1 0,0 0 0,51 20 0,-42-18 0,66 24 0,0-4 0,2-3 0,0-4 0,1-3 0,0-4 0,105-1 0,-98-9 0,123 14 0,-231-14 0,-1 1 0,0 1 0,-29 5 0,-45 1 0,-143-19 0,-2 0 0,195 8 0,0 2 0,0 2 0,-56 7 0,74-2 0,-1 0 0,-46 17 0,75-22 0,0 0 0,0 0 0,-1 0 0,1 0 0,0 0 0,0 0 0,-1 0 0,1 0 0,0 0 0,0 0 0,-1 0 0,1 0 0,0 1 0,0-1 0,-1 0 0,1 0 0,0 0 0,0 0 0,0 0 0,-1 1 0,1-1 0,0 0 0,0 0 0,0 0 0,0 1 0,-1-1 0,1 0 0,0 0 0,0 0 0,0 1 0,0-1 0,0 0 0,0 0 0,0 1 0,0-1 0,-1 0 0,1 0 0,0 1 0,0-1 0,0 0 0,0 1 0,0-1 0,1 0 0,-1 0 0,0 1 0,0-1 0,0 0 0,0 0 0,0 1 0,0-1 0,0 0 0,0 0 0,1 0 0,-1 1 0,0-1 0,0 0 0,0 0 0,0 0 0,1 1 0,22 10 0,33 4 0,-23-9 0,0-2 0,66 0 0,-3 0 0,195 8 0,178-12-1365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0ACE2-BBE5-4A86-ABB6-A3FE00123BE8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2760-5664-47A9-A8BF-BA85E853B68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4680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F2760-5664-47A9-A8BF-BA85E853B68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033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263D0-7530-88BE-932C-37F923B9B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0C6695-E677-B638-16B7-E85530590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2A923C-1503-C641-71C1-433C1DBA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55269A-C8B1-2CC9-758F-CC26F814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FEAC60-3955-E500-7A6E-FAEBCF9A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918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F681E-24F9-2DCE-B51E-B6FCEAA7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DAE2FF-99DD-6A3E-C6EE-0E9C66ACB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6CB630-5D0A-66E8-74BF-71FD53E7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FF4C5-E54C-3EDA-4DA3-0CB877EC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ADAAC0-9E84-9AEF-736E-A1526C4B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817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0F50F-EADA-BB16-8FC7-24551E5D3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DBDCC8-DCB2-0062-EDB6-26BCFE926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29FAFA-4492-F973-D866-C4F9F33B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A6D472-31FD-B0D2-959D-90733FC3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242847-2E9B-B2D1-4029-AAC1F954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16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1F446-4AB8-E16F-43C2-E619EABA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B569FC-28B5-FF38-3903-582D2A383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54BAF5-831D-2A43-7EB0-1F6D6516A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1FC93A-4FB2-B1BA-E84E-2251FD7E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B33355-0E26-5CD4-95A1-B4E973E1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8AF778-1725-C58F-18DD-99527F17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773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21A307-034D-EB54-E6BA-E56125DD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F135B3-681B-867E-6C93-1196CB4E0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A12264-6A83-5B0B-F021-0DA47BC4A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F3A6D3-1D8E-8382-12F3-6449205D0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DD39F1-3E46-281A-BC12-9D49CE14B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B40306-01E6-278B-6EB2-05099E579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36E7332-26D1-EC34-1B24-7B2CA778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ED319E4-1FAB-2081-FD28-D57AA1F5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435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E0B5C-7DDE-1DDD-EB19-6E2B7DEF7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0501DB3-0AA5-51D2-6D2A-83176223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AE576E-F82D-8F44-695E-532FB871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8C7E67-3E55-99F8-CB71-9F23E8DB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756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5558E85-7C8A-985C-6843-9DB13585D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33DE48-EEC2-36C4-531D-A5D6E6E6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A8906B-6C4B-0189-0EF1-F59A81B8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57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12B59-B6F5-0F2F-D6F0-89BE9745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EC7C31-4C31-4738-329A-F51C4AB7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6E73BF-0DFB-BFDC-01C3-04BD64E24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019A6E-CC1F-3F40-B4DE-55CF3F104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99A09F-45DE-84B9-06DA-83EDEA62F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C03A73-8573-5023-8EA8-36C18939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95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A4FE6-FD76-EAA7-A979-CFE56422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55E740-1083-74B5-0A10-75B8E1463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AD66D9-0CB2-956E-1352-C70390044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A93B86-AA9B-F5AA-1963-47B4C43A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8CBA7E-65A6-9A62-EE07-F628ED83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7782CE-695A-D5F0-3622-6ABF55DB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345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D71DC-AAA4-D480-A386-DC6262F9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A0BB27-72D9-63A8-DFBC-8066A14C4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3348E2-FD90-7452-789D-773FBCC1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390E42-A96E-0613-E474-6D2F95EC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484628-E5F3-28B7-EC3B-957840A2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80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1FE9225-88A0-A737-BE2E-38A222460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A1F5A9-1293-F127-E15A-F09BE12CF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CB0AC7-BC8E-EC49-38B5-D30320C2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62B315-A010-4728-D1B5-78BB7231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D88E4A-3B99-7726-5E8D-B7EA53EB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625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78964-B298-A114-42B3-71E614F34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755783-DF9E-AE17-7306-41F47B5D5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98CB0C-F99B-DB77-B63B-8D79D0927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74772-3B64-4F38-89EA-62B6D4CECF63}" type="datetimeFigureOut">
              <a:rPr lang="ru-RU" smtClean="0"/>
              <a:t>03.06.2026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C8EB86-3ED2-41C5-4613-891628199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475888-DF63-00B0-C826-8CA4DA1B4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1AF51-15E7-4F17-8A83-81811431B5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57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5.png"/><Relationship Id="rId14" Type="http://schemas.openxmlformats.org/officeDocument/2006/relationships/customXml" Target="../ink/ink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177D8-45F1-0E91-8470-FC7B2C9A3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8587"/>
            <a:ext cx="9144000" cy="3151375"/>
          </a:xfrm>
        </p:spPr>
        <p:txBody>
          <a:bodyPr>
            <a:normAutofit fontScale="90000"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ГОРОДА МОСКВЫ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«МЕДИЦИНСКИЙ КОЛЛЕДЖ №7»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(ГБПОУ «МК №7»)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Сестринская деятельность по обучению родителей (законных представителей) профилактике ожирения у детей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34.02.01. Сестринское дело 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обучения: очная </a:t>
            </a:r>
            <a:b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1CABB6-7B0E-5AD9-C1EA-53EC77773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0658" y="3842016"/>
            <a:ext cx="2707341" cy="2738077"/>
          </a:xfrm>
        </p:spPr>
        <p:txBody>
          <a:bodyPr>
            <a:normAutofit/>
          </a:bodyPr>
          <a:lstStyle/>
          <a:p>
            <a:pPr algn="l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выполнила: </a:t>
            </a:r>
          </a:p>
          <a:p>
            <a:pPr algn="l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Забулика Ариана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Адриановна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З-42С</a:t>
            </a:r>
          </a:p>
          <a:p>
            <a:pPr algn="l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</a:p>
          <a:p>
            <a:pPr algn="l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Каплина Оксана Демьяновна</a:t>
            </a:r>
          </a:p>
          <a:p>
            <a:pPr algn="r"/>
            <a:endParaRPr lang="ru-RU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3E599-F8BA-EF11-87D6-AA1749806C80}"/>
              </a:ext>
            </a:extLst>
          </p:cNvPr>
          <p:cNvSpPr txBox="1"/>
          <p:nvPr/>
        </p:nvSpPr>
        <p:spPr>
          <a:xfrm>
            <a:off x="5243072" y="5947442"/>
            <a:ext cx="1705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 г </a:t>
            </a:r>
          </a:p>
        </p:txBody>
      </p:sp>
    </p:spTree>
    <p:extLst>
      <p:ext uri="{BB962C8B-B14F-4D97-AF65-F5344CB8AC3E}">
        <p14:creationId xmlns:p14="http://schemas.microsoft.com/office/powerpoint/2010/main" val="2297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ABE81-EA14-95D5-287B-3D7014DE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8569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7C6766-D0DE-72AD-1267-18866E022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93694"/>
            <a:ext cx="5181600" cy="50832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090CE4-1ECE-35DB-770A-78F0CA7F3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093694"/>
            <a:ext cx="10515600" cy="5083269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C2D765C8-9E7A-20EC-422F-9667165CE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669241"/>
              </p:ext>
            </p:extLst>
          </p:nvPr>
        </p:nvGraphicFramePr>
        <p:xfrm>
          <a:off x="838201" y="1093694"/>
          <a:ext cx="10515600" cy="502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53909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197A2-16C3-5BA7-890D-691D09E6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319406"/>
            <a:ext cx="105156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3BDAA2-5D9C-74CD-BD70-88A924664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4024"/>
            <a:ext cx="10515600" cy="608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 сестринскую деятельность по обучению родителей (законных представителей) профилактике ожирения у детей </a:t>
            </a:r>
          </a:p>
          <a:p>
            <a:pPr marL="0" indent="0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исследования: 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изучить и проанализировать данные научно-медицинской литературы и интернет-источников по теме выпускной квалификационной работы;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определить деятельность медицинской сестры по обучению родителей профилактике ожирения у детей;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разработать анкету для родителей и обобщить полученные результаты;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составить лекцию для родителей по профилактике ожирения у детей;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разработать памятки и рекомендации для родителей и детей с избыточной массой тела по правильному питанию, двигательной активности и профилактики ожирения.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403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EEB2E-FADA-CE72-9B7C-6C94EE2E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04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C6A5B5-6368-E8FF-6526-6C57FB108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7859"/>
            <a:ext cx="10515600" cy="5379104"/>
          </a:xfrm>
        </p:spPr>
        <p:txBody>
          <a:bodyPr/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сестринская деятельность по обучению родителей профилактики ожирения у детей.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сестринской деятельности по обучению родителей профилактике ожирения у детей.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исследования:  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теоретический анализ и сравнение данных научно-медицинской литературы и интернет-источников; 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наблюдение; 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опрос (анкетирование); 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статистический анализ; 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обобщение.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60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31868"/>
            <a:ext cx="10515600" cy="7554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FD5C14-2191-306E-8A00-92701549F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048871"/>
            <a:ext cx="10515600" cy="51995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68950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62753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исследования </a:t>
            </a:r>
          </a:p>
        </p:txBody>
      </p:sp>
      <p:sp>
        <p:nvSpPr>
          <p:cNvPr id="4" name="Прямоугольник: скругленные противолежащие углы 3">
            <a:extLst>
              <a:ext uri="{FF2B5EF4-FFF2-40B4-BE49-F238E27FC236}">
                <a16:creationId xmlns:a16="http://schemas.microsoft.com/office/drawing/2014/main" id="{7944FFA5-951F-46D0-392F-A68DDCDAD30A}"/>
              </a:ext>
            </a:extLst>
          </p:cNvPr>
          <p:cNvSpPr/>
          <p:nvPr/>
        </p:nvSpPr>
        <p:spPr>
          <a:xfrm>
            <a:off x="685800" y="797859"/>
            <a:ext cx="4989757" cy="5701552"/>
          </a:xfrm>
          <a:prstGeom prst="round2DiagRect">
            <a:avLst/>
          </a:prstGeom>
          <a:solidFill>
            <a:srgbClr val="FFCC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4</a:t>
            </a:r>
          </a:p>
          <a:p>
            <a:pPr algn="just"/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Анкета для родителей (законных представителей) «Первичная профилактика ожирения у детей»</a:t>
            </a:r>
          </a:p>
          <a:p>
            <a:pPr algn="just"/>
            <a:r>
              <a:rPr lang="ru-RU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Инструкция: Здравствуйте, уважаемые родители! Вам предлагается анкета, направленная на определение Вашего уровня информированности по вопросам профилактики ожирения у детей.</a:t>
            </a:r>
          </a:p>
          <a:p>
            <a:pPr algn="just"/>
            <a:r>
              <a:rPr lang="ru-RU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Прошу вас ответить на вопросы анкеты, спасибо за внимание!</a:t>
            </a:r>
          </a:p>
          <a:p>
            <a:pPr algn="just"/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Укажите пол вашего ребенка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мужской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женский</a:t>
            </a:r>
          </a:p>
          <a:p>
            <a:pPr algn="just"/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Укажите возраст ребенка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4-6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7-10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11-13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14-16</a:t>
            </a:r>
          </a:p>
          <a:p>
            <a:pPr algn="just"/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Укажите вес и рост ребенка</a:t>
            </a:r>
          </a:p>
          <a:p>
            <a:pPr algn="just"/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Вес:</a:t>
            </a:r>
          </a:p>
          <a:p>
            <a:pPr algn="just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Рост:</a:t>
            </a:r>
          </a:p>
          <a:p>
            <a:pPr algn="just"/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Считаете ли вы, что у вашего ребенка избыточная масса тела?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знаю</a:t>
            </a:r>
          </a:p>
          <a:p>
            <a:pPr algn="just"/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вы оцениваете питание вашего ребенка?</a:t>
            </a: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здоровое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совсем здоровое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нездоровое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05EDE1-5699-A0D4-ABA5-83B812E18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043" y="797859"/>
            <a:ext cx="4989757" cy="5701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C12C01-93B1-1AE2-69EB-30F18721C70A}"/>
              </a:ext>
            </a:extLst>
          </p:cNvPr>
          <p:cNvSpPr txBox="1"/>
          <p:nvPr/>
        </p:nvSpPr>
        <p:spPr>
          <a:xfrm>
            <a:off x="6580094" y="986119"/>
            <a:ext cx="461682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ru-RU" sz="1200" b="1" dirty="0"/>
          </a:p>
          <a:p>
            <a:pPr algn="just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Можете ли Вы сказать, что Ваш ребенок питается правильно?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</a:t>
            </a:r>
          </a:p>
          <a:p>
            <a:pPr algn="just"/>
            <a:r>
              <a:rPr lang="ru-RU" sz="1200" b="1" dirty="0"/>
              <a:t>7. </a:t>
            </a: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 времени в день ваш ребенок проводит за </a:t>
            </a:r>
          </a:p>
          <a:p>
            <a:pPr algn="just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компьютером/телефоном?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1-2 часа в день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3-4 часа в день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5-6 часов в день</a:t>
            </a:r>
          </a:p>
          <a:p>
            <a:pPr algn="just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Какой режим питания у Вашего ребенка?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1-2 раза в день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3-4 раза в день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5-6 раз в день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регулярно</a:t>
            </a:r>
          </a:p>
          <a:p>
            <a:pPr algn="just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Есть ли вредные привычки в питании у Вашего ребенка?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 много сладкого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 много жареного/жирного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 много хлебобулочных изделий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 ест фастфуд </a:t>
            </a:r>
          </a:p>
          <a:p>
            <a:pPr algn="just"/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Какая физическая активность у Вашего ребенка?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 часа в день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1-2 часа в день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3-4 часа в день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4-х часов в день</a:t>
            </a:r>
          </a:p>
        </p:txBody>
      </p:sp>
    </p:spTree>
    <p:extLst>
      <p:ext uri="{BB962C8B-B14F-4D97-AF65-F5344CB8AC3E}">
        <p14:creationId xmlns:p14="http://schemas.microsoft.com/office/powerpoint/2010/main" val="343006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61365"/>
            <a:ext cx="10515600" cy="726141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работа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212804-9B4E-F461-034B-E40CC9CF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09" y="2495227"/>
            <a:ext cx="5571366" cy="3465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82F81D-D9C3-C706-6A99-44D30552DBD7}"/>
              </a:ext>
            </a:extLst>
          </p:cNvPr>
          <p:cNvSpPr txBox="1"/>
          <p:nvPr/>
        </p:nvSpPr>
        <p:spPr>
          <a:xfrm>
            <a:off x="147509" y="1636135"/>
            <a:ext cx="5571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2. </a:t>
            </a:r>
          </a:p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Возрастные категории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A185A1-2855-A9A5-8AA0-77A7DCAE8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37667"/>
            <a:ext cx="5948491" cy="2923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DED37C-EEFB-790B-A622-B8922044F660}"/>
              </a:ext>
            </a:extLst>
          </p:cNvPr>
          <p:cNvSpPr txBox="1"/>
          <p:nvPr/>
        </p:nvSpPr>
        <p:spPr>
          <a:xfrm>
            <a:off x="6095999" y="1990078"/>
            <a:ext cx="5948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3. </a:t>
            </a:r>
          </a:p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Избыточная масса тела </a:t>
            </a:r>
          </a:p>
        </p:txBody>
      </p:sp>
    </p:spTree>
    <p:extLst>
      <p:ext uri="{BB962C8B-B14F-4D97-AF65-F5344CB8AC3E}">
        <p14:creationId xmlns:p14="http://schemas.microsoft.com/office/powerpoint/2010/main" val="261873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F93CF-4C0E-D2F6-E9DB-1BF6C17D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CE081C7-1C69-C360-7489-33E19F3934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4299" y="2464230"/>
            <a:ext cx="5735502" cy="3257801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FD8F96A8-69B2-58D5-789C-2E7C9997B5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60872" y="2464230"/>
            <a:ext cx="5546829" cy="31702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798EE3-5525-B91F-09F2-05BB39A676FB}"/>
              </a:ext>
            </a:extLst>
          </p:cNvPr>
          <p:cNvSpPr txBox="1"/>
          <p:nvPr/>
        </p:nvSpPr>
        <p:spPr>
          <a:xfrm>
            <a:off x="360498" y="1135968"/>
            <a:ext cx="5735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4. </a:t>
            </a:r>
          </a:p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Питание ребенка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1814E-053D-B8A9-B691-BCED1DC5DFB9}"/>
              </a:ext>
            </a:extLst>
          </p:cNvPr>
          <p:cNvSpPr txBox="1"/>
          <p:nvPr/>
        </p:nvSpPr>
        <p:spPr>
          <a:xfrm>
            <a:off x="6284673" y="1135968"/>
            <a:ext cx="5546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5. </a:t>
            </a:r>
          </a:p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гаджетов в течение дня </a:t>
            </a:r>
          </a:p>
        </p:txBody>
      </p:sp>
    </p:spTree>
    <p:extLst>
      <p:ext uri="{BB962C8B-B14F-4D97-AF65-F5344CB8AC3E}">
        <p14:creationId xmlns:p14="http://schemas.microsoft.com/office/powerpoint/2010/main" val="1412564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05031-1CFF-BA2C-050F-E563B7A88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32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3F1D589-BE3B-8BDC-3B6B-070AFB21DB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8824" y="2440551"/>
            <a:ext cx="5730977" cy="3348955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A2D7F507-19B9-9571-4E2D-986FDD1D89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58350" y="2440551"/>
            <a:ext cx="5644826" cy="3348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4FC129-65E5-8FB9-30CB-D15D47BF945A}"/>
              </a:ext>
            </a:extLst>
          </p:cNvPr>
          <p:cNvSpPr txBox="1"/>
          <p:nvPr/>
        </p:nvSpPr>
        <p:spPr>
          <a:xfrm>
            <a:off x="288823" y="1239866"/>
            <a:ext cx="5730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6.</a:t>
            </a:r>
          </a:p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питания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E9E07D-051A-DD27-3BD9-59A82F2A22BD}"/>
              </a:ext>
            </a:extLst>
          </p:cNvPr>
          <p:cNvSpPr txBox="1"/>
          <p:nvPr/>
        </p:nvSpPr>
        <p:spPr>
          <a:xfrm>
            <a:off x="6416298" y="1239866"/>
            <a:ext cx="5238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7.</a:t>
            </a:r>
          </a:p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Вредные пищевые привычки</a:t>
            </a:r>
          </a:p>
        </p:txBody>
      </p:sp>
    </p:spTree>
    <p:extLst>
      <p:ext uri="{BB962C8B-B14F-4D97-AF65-F5344CB8AC3E}">
        <p14:creationId xmlns:p14="http://schemas.microsoft.com/office/powerpoint/2010/main" val="145802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FAD6B-094F-AF5F-A64F-E4048D61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828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9E44F8A-7F19-5145-7F26-A3029B34C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1824" y="2207878"/>
            <a:ext cx="8810953" cy="3853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885D7F-5BEB-0BA5-FBE8-4E7906A24E04}"/>
              </a:ext>
            </a:extLst>
          </p:cNvPr>
          <p:cNvSpPr txBox="1"/>
          <p:nvPr/>
        </p:nvSpPr>
        <p:spPr>
          <a:xfrm>
            <a:off x="2216258" y="1112536"/>
            <a:ext cx="8059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8. </a:t>
            </a:r>
          </a:p>
          <a:p>
            <a:pPr algn="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активность </a:t>
            </a:r>
          </a:p>
        </p:txBody>
      </p:sp>
    </p:spTree>
    <p:extLst>
      <p:ext uri="{BB962C8B-B14F-4D97-AF65-F5344CB8AC3E}">
        <p14:creationId xmlns:p14="http://schemas.microsoft.com/office/powerpoint/2010/main" val="637809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A703B-504E-2C96-D500-B7861826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6285"/>
          </a:xfrm>
        </p:spPr>
        <p:txBody>
          <a:bodyPr>
            <a:no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обучающего занятия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2D893-411D-8A49-6094-98416BDCC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95" y="1417090"/>
            <a:ext cx="10638905" cy="4759873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202BC617-1EE9-7F8F-7908-F068F344B1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3640397"/>
              </p:ext>
            </p:extLst>
          </p:nvPr>
        </p:nvGraphicFramePr>
        <p:xfrm>
          <a:off x="448887" y="1030778"/>
          <a:ext cx="11222182" cy="5462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965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E2336-DFFA-407D-1609-7F3E3874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8039"/>
          </a:xfrm>
        </p:spPr>
        <p:txBody>
          <a:bodyPr>
            <a:normAutofit/>
          </a:bodyPr>
          <a:lstStyle/>
          <a:p>
            <a:pPr algn="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9. 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повторного анкетирования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05FF93C-8353-DA3E-6467-924A00A64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3357" y="1690688"/>
            <a:ext cx="7545285" cy="440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9C94B-3634-3510-9854-518358E8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151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Памятки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61F0F0-D135-2572-063D-4F3E28458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10515600" cy="896191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Памятка для родителей по профилактике ожирения 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BDF78A64-D2E9-3094-AB8A-4428C6FDDA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7969" y="1697855"/>
            <a:ext cx="3353776" cy="4470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D04511-0A5D-06BA-4C3A-2869A8EED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60" y="1697855"/>
            <a:ext cx="7586593" cy="4470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D1E7CD89-01AF-23D7-708D-C72AE6D4CA05}"/>
                  </a:ext>
                </a:extLst>
              </p14:cNvPr>
              <p14:cNvContentPartPr/>
              <p14:nvPr/>
            </p14:nvContentPartPr>
            <p14:xfrm>
              <a:off x="-717240" y="421151"/>
              <a:ext cx="360" cy="1296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D1E7CD89-01AF-23D7-708D-C72AE6D4CA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723360" y="415031"/>
                <a:ext cx="126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Рукописный ввод 40">
                <a:extLst>
                  <a:ext uri="{FF2B5EF4-FFF2-40B4-BE49-F238E27FC236}">
                    <a16:creationId xmlns:a16="http://schemas.microsoft.com/office/drawing/2014/main" id="{F80351EB-4A66-3C3B-9FA3-26A0C529700F}"/>
                  </a:ext>
                </a:extLst>
              </p14:cNvPr>
              <p14:cNvContentPartPr/>
              <p14:nvPr/>
            </p14:nvContentPartPr>
            <p14:xfrm>
              <a:off x="4792770" y="5775453"/>
              <a:ext cx="20880" cy="6840"/>
            </p14:xfrm>
          </p:contentPart>
        </mc:Choice>
        <mc:Fallback xmlns="">
          <p:pic>
            <p:nvPicPr>
              <p:cNvPr id="41" name="Рукописный ввод 40">
                <a:extLst>
                  <a:ext uri="{FF2B5EF4-FFF2-40B4-BE49-F238E27FC236}">
                    <a16:creationId xmlns:a16="http://schemas.microsoft.com/office/drawing/2014/main" id="{F80351EB-4A66-3C3B-9FA3-26A0C529700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29770" y="5712813"/>
                <a:ext cx="14652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Рукописный ввод 41">
                <a:extLst>
                  <a:ext uri="{FF2B5EF4-FFF2-40B4-BE49-F238E27FC236}">
                    <a16:creationId xmlns:a16="http://schemas.microsoft.com/office/drawing/2014/main" id="{C3CDB6D0-8B0C-F921-4B5F-8A7FF7A24C4F}"/>
                  </a:ext>
                </a:extLst>
              </p14:cNvPr>
              <p14:cNvContentPartPr/>
              <p14:nvPr/>
            </p14:nvContentPartPr>
            <p14:xfrm>
              <a:off x="4631850" y="5772933"/>
              <a:ext cx="514440" cy="297000"/>
            </p14:xfrm>
          </p:contentPart>
        </mc:Choice>
        <mc:Fallback xmlns="">
          <p:pic>
            <p:nvPicPr>
              <p:cNvPr id="42" name="Рукописный ввод 41">
                <a:extLst>
                  <a:ext uri="{FF2B5EF4-FFF2-40B4-BE49-F238E27FC236}">
                    <a16:creationId xmlns:a16="http://schemas.microsoft.com/office/drawing/2014/main" id="{C3CDB6D0-8B0C-F921-4B5F-8A7FF7A24C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68850" y="5709933"/>
                <a:ext cx="64008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3" name="Рукописный ввод 42">
                <a:extLst>
                  <a:ext uri="{FF2B5EF4-FFF2-40B4-BE49-F238E27FC236}">
                    <a16:creationId xmlns:a16="http://schemas.microsoft.com/office/drawing/2014/main" id="{D1D84F95-8061-D6D8-F0FD-328F444316E4}"/>
                  </a:ext>
                </a:extLst>
              </p14:cNvPr>
              <p14:cNvContentPartPr/>
              <p14:nvPr/>
            </p14:nvContentPartPr>
            <p14:xfrm>
              <a:off x="5377050" y="5936733"/>
              <a:ext cx="5257800" cy="59400"/>
            </p14:xfrm>
          </p:contentPart>
        </mc:Choice>
        <mc:Fallback xmlns="">
          <p:pic>
            <p:nvPicPr>
              <p:cNvPr id="43" name="Рукописный ввод 42">
                <a:extLst>
                  <a:ext uri="{FF2B5EF4-FFF2-40B4-BE49-F238E27FC236}">
                    <a16:creationId xmlns:a16="http://schemas.microsoft.com/office/drawing/2014/main" id="{D1D84F95-8061-D6D8-F0FD-328F444316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14050" y="5873733"/>
                <a:ext cx="53834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Рукописный ввод 43">
                <a:extLst>
                  <a:ext uri="{FF2B5EF4-FFF2-40B4-BE49-F238E27FC236}">
                    <a16:creationId xmlns:a16="http://schemas.microsoft.com/office/drawing/2014/main" id="{4ED2F9FB-ED84-C830-2876-8A108CAA3A7E}"/>
                  </a:ext>
                </a:extLst>
              </p14:cNvPr>
              <p14:cNvContentPartPr/>
              <p14:nvPr/>
            </p14:nvContentPartPr>
            <p14:xfrm>
              <a:off x="10663184" y="5968413"/>
              <a:ext cx="379440" cy="28440"/>
            </p14:xfrm>
          </p:contentPart>
        </mc:Choice>
        <mc:Fallback xmlns="">
          <p:pic>
            <p:nvPicPr>
              <p:cNvPr id="44" name="Рукописный ввод 43">
                <a:extLst>
                  <a:ext uri="{FF2B5EF4-FFF2-40B4-BE49-F238E27FC236}">
                    <a16:creationId xmlns:a16="http://schemas.microsoft.com/office/drawing/2014/main" id="{4ED2F9FB-ED84-C830-2876-8A108CAA3A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00544" y="5905413"/>
                <a:ext cx="5050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Рукописный ввод 44">
                <a:extLst>
                  <a:ext uri="{FF2B5EF4-FFF2-40B4-BE49-F238E27FC236}">
                    <a16:creationId xmlns:a16="http://schemas.microsoft.com/office/drawing/2014/main" id="{03D6E64C-345F-D3CB-4C1B-D05A145A7A62}"/>
                  </a:ext>
                </a:extLst>
              </p14:cNvPr>
              <p14:cNvContentPartPr/>
              <p14:nvPr/>
            </p14:nvContentPartPr>
            <p14:xfrm>
              <a:off x="11377424" y="5727213"/>
              <a:ext cx="426960" cy="337320"/>
            </p14:xfrm>
          </p:contentPart>
        </mc:Choice>
        <mc:Fallback xmlns="">
          <p:pic>
            <p:nvPicPr>
              <p:cNvPr id="45" name="Рукописный ввод 44">
                <a:extLst>
                  <a:ext uri="{FF2B5EF4-FFF2-40B4-BE49-F238E27FC236}">
                    <a16:creationId xmlns:a16="http://schemas.microsoft.com/office/drawing/2014/main" id="{03D6E64C-345F-D3CB-4C1B-D05A145A7A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314784" y="5664213"/>
                <a:ext cx="552600" cy="46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303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C33BD-3602-3836-B29C-29AF00B6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824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ED25A8-1EB9-4D1B-4D84-565ACBC80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950"/>
            <a:ext cx="10515600" cy="501001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Изучена современная научно-медицинская литература и интернет-источники по теме выпускной квалификационной работы;</a:t>
            </a:r>
          </a:p>
          <a:p>
            <a:pPr marL="514350" indent="-51435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основные направления деятельности медицинской сестры по обучению родителей профилактике ожирения у детей: формирование принципов рационального питания; соблюдение режима питания и сна; профилактика стресса;</a:t>
            </a:r>
          </a:p>
          <a:p>
            <a:pPr marL="514350" indent="-51435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анкетирование родителей, выявившее недостаточную осведомленность о методах профилактики ожирения у детей;</a:t>
            </a:r>
          </a:p>
          <a:p>
            <a:pPr marL="514350" indent="-51435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и проведены обучающие занятия для родителей, включающие: основы здорового питания; важность физической активности; рекомендации по профилактике ожирения;</a:t>
            </a:r>
          </a:p>
          <a:p>
            <a:pPr marL="514350" indent="-514350">
              <a:buAutoNum type="arabicPeriod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памятка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родителей о профилактике ожирения у детей. </a:t>
            </a:r>
          </a:p>
        </p:txBody>
      </p:sp>
    </p:spTree>
    <p:extLst>
      <p:ext uri="{BB962C8B-B14F-4D97-AF65-F5344CB8AC3E}">
        <p14:creationId xmlns:p14="http://schemas.microsoft.com/office/powerpoint/2010/main" val="3148264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5310</TotalTime>
  <Words>664</Words>
  <Application>Microsoft Office PowerPoint</Application>
  <PresentationFormat>Широкоэкранный</PresentationFormat>
  <Paragraphs>108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Тема Office</vt:lpstr>
      <vt:lpstr>ГОСУДАРСТВЕННОЕ БЮДЖЕТНОЕ ПРОФЕССИОНАЛЬНОЕ  ОБРАЗОВАТЕЛЬНОЕ УЧРЕЖДЕНИЕ ГОРОДА МОСКВЫ  «МЕДИЦИНСКИЙ КОЛЛЕДЖ №7» (ГБПОУ «МК №7»)   Выпускная квалификационная работа    Сестринская деятельность по обучению родителей (законных представителей) профилактике ожирения у детей  Специальность 34.02.01. Сестринское дело   Форма обучения: очная  </vt:lpstr>
      <vt:lpstr>Актуальность темы </vt:lpstr>
      <vt:lpstr>Презентация PowerPoint</vt:lpstr>
      <vt:lpstr>Презентация PowerPoint</vt:lpstr>
      <vt:lpstr>База исследования </vt:lpstr>
      <vt:lpstr>Анализ исследования </vt:lpstr>
      <vt:lpstr>Практическая работа </vt:lpstr>
      <vt:lpstr>Презентация PowerPoint</vt:lpstr>
      <vt:lpstr>Презентация PowerPoint</vt:lpstr>
      <vt:lpstr>Презентация PowerPoint</vt:lpstr>
      <vt:lpstr>План обучающего занятия </vt:lpstr>
      <vt:lpstr>Диаграмма 9.  результаты повторного анкетирования</vt:lpstr>
      <vt:lpstr>Памятки </vt:lpstr>
      <vt:lpstr>Выводы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профессиональное учреждение  «МЕДИЦИНСКИЙ КОЛЛЕДЖ № 7»     Выпускная квалификационная работа    Сестринская деятельность по обучению родителей (законных представителей) профилактике ожирения у детей  Специальность 34.02.01. Сестринское дело   Форма обучения: очная</dc:title>
  <dc:creator>Ариана Забулика</dc:creator>
  <cp:lastModifiedBy>Ариана Забулика</cp:lastModifiedBy>
  <cp:revision>9</cp:revision>
  <dcterms:created xsi:type="dcterms:W3CDTF">2026-05-16T09:05:34Z</dcterms:created>
  <dcterms:modified xsi:type="dcterms:W3CDTF">2026-06-03T13:04:01Z</dcterms:modified>
</cp:coreProperties>
</file>